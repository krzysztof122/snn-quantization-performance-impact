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3" r:id="rId8"/>
    <p:sldId id="262" r:id="rId9"/>
    <p:sldId id="264" r:id="rId10"/>
    <p:sldId id="265" r:id="rId11"/>
    <p:sldId id="266" r:id="rId12"/>
    <p:sldId id="272" r:id="rId13"/>
    <p:sldId id="267" r:id="rId14"/>
    <p:sldId id="268" r:id="rId15"/>
    <p:sldId id="269" r:id="rId16"/>
    <p:sldId id="270" r:id="rId17"/>
    <p:sldId id="271" r:id="rId18"/>
    <p:sldId id="273" r:id="rId19"/>
    <p:sldId id="275" r:id="rId20"/>
    <p:sldId id="274" r:id="rId21"/>
    <p:sldId id="276" r:id="rId22"/>
    <p:sldId id="277" r:id="rId23"/>
    <p:sldId id="278" r:id="rId2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50" d="100"/>
          <a:sy n="150" d="100"/>
        </p:scale>
        <p:origin x="654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ajd tytułow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1600" y="1803405"/>
            <a:ext cx="9448800" cy="1825096"/>
          </a:xfrm>
        </p:spPr>
        <p:txBody>
          <a:bodyPr anchor="b">
            <a:normAutofit/>
          </a:bodyPr>
          <a:lstStyle>
            <a:lvl1pPr algn="l">
              <a:defRPr sz="6000"/>
            </a:lvl1pPr>
          </a:lstStyle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632201"/>
            <a:ext cx="9448800" cy="685800"/>
          </a:xfrm>
        </p:spPr>
        <p:txBody>
          <a:bodyPr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l-PL"/>
              <a:t>Kliknij, aby edytować styl wzorca podtytułu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909561" y="4314328"/>
            <a:ext cx="2910840" cy="374642"/>
          </a:xfrm>
        </p:spPr>
        <p:txBody>
          <a:bodyPr/>
          <a:lstStyle/>
          <a:p>
            <a:fld id="{85100500-ABE9-4D3D-826D-1F8A5C447688}" type="datetimeFigureOut">
              <a:rPr lang="pl-PL" smtClean="0"/>
              <a:t>08.06.2026</a:t>
            </a:fld>
            <a:endParaRPr lang="pl-P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371600" y="4323845"/>
            <a:ext cx="6400800" cy="365125"/>
          </a:xfrm>
        </p:spPr>
        <p:txBody>
          <a:bodyPr/>
          <a:lstStyle/>
          <a:p>
            <a:endParaRPr lang="pl-P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77200" y="1430866"/>
            <a:ext cx="2743200" cy="365125"/>
          </a:xfrm>
        </p:spPr>
        <p:txBody>
          <a:bodyPr/>
          <a:lstStyle/>
          <a:p>
            <a:fld id="{5A505A25-1DD9-4662-A9C0-5385CECB6424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2064850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ytuł i zawartoś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00500-ABE9-4D3D-826D-1F8A5C447688}" type="datetimeFigureOut">
              <a:rPr lang="pl-PL" smtClean="0"/>
              <a:t>08.06.2026</a:t>
            </a:fld>
            <a:endParaRPr lang="pl-P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505A25-1DD9-4662-A9C0-5385CECB6424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736182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Nagłówek sekcj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753533"/>
            <a:ext cx="10820399" cy="2801935"/>
          </a:xfrm>
        </p:spPr>
        <p:txBody>
          <a:bodyPr anchor="b">
            <a:normAutofit/>
          </a:bodyPr>
          <a:lstStyle>
            <a:lvl1pPr algn="r">
              <a:defRPr sz="4000"/>
            </a:lvl1pPr>
          </a:lstStyle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467" y="3641725"/>
            <a:ext cx="10490200" cy="955675"/>
          </a:xfrm>
        </p:spPr>
        <p:txBody>
          <a:bodyPr>
            <a:normAutofit/>
          </a:bodyPr>
          <a:lstStyle>
            <a:lvl1pPr marL="0" indent="0" algn="r">
              <a:buNone/>
              <a:defRPr sz="22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85100500-ABE9-4D3D-826D-1F8A5C447688}" type="datetimeFigureOut">
              <a:rPr lang="pl-PL" smtClean="0"/>
              <a:t>08.06.2026</a:t>
            </a:fld>
            <a:endParaRPr lang="pl-P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5800" y="381001"/>
            <a:ext cx="6991492" cy="364065"/>
          </a:xfrm>
        </p:spPr>
        <p:txBody>
          <a:bodyPr/>
          <a:lstStyle/>
          <a:p>
            <a:endParaRPr lang="pl-P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5A505A25-1DD9-4662-A9C0-5385CECB6424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2439344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wa elementy zawartośc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0" y="2194559"/>
            <a:ext cx="5334000" cy="4024125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194559"/>
            <a:ext cx="5334000" cy="4024125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00500-ABE9-4D3D-826D-1F8A5C447688}" type="datetimeFigureOut">
              <a:rPr lang="pl-PL" smtClean="0"/>
              <a:t>08.06.2026</a:t>
            </a:fld>
            <a:endParaRPr lang="pl-P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505A25-1DD9-4662-A9C0-5385CECB6424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88813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Porównan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95600" y="762000"/>
            <a:ext cx="8610600" cy="1295400"/>
          </a:xfrm>
        </p:spPr>
        <p:txBody>
          <a:bodyPr/>
          <a:lstStyle/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4409" y="2183802"/>
            <a:ext cx="5079991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5800" y="3132666"/>
            <a:ext cx="5311775" cy="3086019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0" y="2183802"/>
            <a:ext cx="5105400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132666"/>
            <a:ext cx="5334000" cy="3086019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00500-ABE9-4D3D-826D-1F8A5C447688}" type="datetimeFigureOut">
              <a:rPr lang="pl-PL" smtClean="0"/>
              <a:t>08.06.2026</a:t>
            </a:fld>
            <a:endParaRPr lang="pl-P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505A25-1DD9-4662-A9C0-5385CECB6424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2783796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ylko tytu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00500-ABE9-4D3D-826D-1F8A5C447688}" type="datetimeFigureOut">
              <a:rPr lang="pl-PL" smtClean="0"/>
              <a:t>08.06.2026</a:t>
            </a:fld>
            <a:endParaRPr lang="pl-PL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505A25-1DD9-4662-A9C0-5385CECB6424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0010112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us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00500-ABE9-4D3D-826D-1F8A5C447688}" type="datetimeFigureOut">
              <a:rPr lang="pl-PL" smtClean="0"/>
              <a:t>08.06.2026</a:t>
            </a:fld>
            <a:endParaRPr lang="pl-PL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505A25-1DD9-4662-A9C0-5385CECB6424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5727292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Zawartość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24000"/>
            <a:ext cx="4114800" cy="1600200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995582" y="746759"/>
            <a:ext cx="6510618" cy="5471925"/>
          </a:xfrm>
        </p:spPr>
        <p:txBody>
          <a:bodyPr anchor="ctr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124199"/>
            <a:ext cx="4114800" cy="309448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00500-ABE9-4D3D-826D-1F8A5C447688}" type="datetimeFigureOut">
              <a:rPr lang="pl-PL" smtClean="0"/>
              <a:t>08.06.2026</a:t>
            </a:fld>
            <a:endParaRPr lang="pl-P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505A25-1DD9-4662-A9C0-5385CECB6424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27199535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Obraz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24000"/>
            <a:ext cx="6873240" cy="1600200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861238" y="751241"/>
            <a:ext cx="3644962" cy="5467443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pl-PL"/>
              <a:t>Kliknij ikonę, aby dodać obraz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124199"/>
            <a:ext cx="6873240" cy="309448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00500-ABE9-4D3D-826D-1F8A5C447688}" type="datetimeFigureOut">
              <a:rPr lang="pl-PL" smtClean="0"/>
              <a:t>08.06.2026</a:t>
            </a:fld>
            <a:endParaRPr lang="pl-P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505A25-1DD9-4662-A9C0-5385CECB6424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426208183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braz panoramiczny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77" y="4697360"/>
            <a:ext cx="10822034" cy="819355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81727" y="941439"/>
            <a:ext cx="10821840" cy="3478161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pl-PL"/>
              <a:t>Kliknij ikonę, aby dodać obraz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5516715"/>
            <a:ext cx="10820400" cy="701969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00500-ABE9-4D3D-826D-1F8A5C447688}" type="datetimeFigureOut">
              <a:rPr lang="pl-PL" smtClean="0"/>
              <a:t>08.06.2026</a:t>
            </a:fld>
            <a:endParaRPr lang="pl-P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505A25-1DD9-4662-A9C0-5385CECB6424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6850586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ytuł i podp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753532"/>
            <a:ext cx="10820400" cy="2802467"/>
          </a:xfrm>
        </p:spPr>
        <p:txBody>
          <a:bodyPr anchor="ctr"/>
          <a:lstStyle>
            <a:lvl1pPr algn="l">
              <a:defRPr sz="3200"/>
            </a:lvl1pPr>
          </a:lstStyle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649133"/>
            <a:ext cx="10130516" cy="999067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85100500-ABE9-4D3D-826D-1F8A5C447688}" type="datetimeFigureOut">
              <a:rPr lang="pl-PL" smtClean="0"/>
              <a:t>08.06.2026</a:t>
            </a:fld>
            <a:endParaRPr lang="pl-P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9941"/>
            <a:ext cx="6991492" cy="365125"/>
          </a:xfrm>
        </p:spPr>
        <p:txBody>
          <a:bodyPr/>
          <a:lstStyle/>
          <a:p>
            <a:endParaRPr lang="pl-P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5A505A25-1DD9-4662-A9C0-5385CECB6424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65446085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Oferta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467" y="753533"/>
            <a:ext cx="10151533" cy="2604495"/>
          </a:xfrm>
        </p:spPr>
        <p:txBody>
          <a:bodyPr anchor="ctr"/>
          <a:lstStyle>
            <a:lvl1pPr algn="l">
              <a:defRPr sz="3200"/>
            </a:lvl1pPr>
          </a:lstStyle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303865" y="3365556"/>
            <a:ext cx="9592736" cy="4444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959862"/>
            <a:ext cx="10151533" cy="679871"/>
          </a:xfrm>
        </p:spPr>
        <p:txBody>
          <a:bodyPr anchor="ctr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85100500-ABE9-4D3D-826D-1F8A5C447688}" type="datetimeFigureOut">
              <a:rPr lang="pl-PL" smtClean="0"/>
              <a:t>08.06.2026</a:t>
            </a:fld>
            <a:endParaRPr lang="pl-P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9941"/>
            <a:ext cx="6991492" cy="365125"/>
          </a:xfrm>
        </p:spPr>
        <p:txBody>
          <a:bodyPr/>
          <a:lstStyle/>
          <a:p>
            <a:endParaRPr lang="pl-P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5A505A25-1DD9-4662-A9C0-5385CECB6424}" type="slidenum">
              <a:rPr lang="pl-PL" smtClean="0"/>
              <a:t>‹#›</a:t>
            </a:fld>
            <a:endParaRPr lang="pl-PL"/>
          </a:p>
        </p:txBody>
      </p:sp>
      <p:sp>
        <p:nvSpPr>
          <p:cNvPr id="9" name="TextBox 8"/>
          <p:cNvSpPr txBox="1"/>
          <p:nvPr/>
        </p:nvSpPr>
        <p:spPr>
          <a:xfrm>
            <a:off x="476250" y="93345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84230" y="270129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3539839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Karta nazw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495" y="1124701"/>
            <a:ext cx="10146186" cy="2511835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648315"/>
            <a:ext cx="10144654" cy="999885"/>
          </a:xfrm>
        </p:spPr>
        <p:txBody>
          <a:bodyPr anchor="t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78883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85100500-ABE9-4D3D-826D-1F8A5C447688}" type="datetimeFigureOut">
              <a:rPr lang="pl-PL" smtClean="0"/>
              <a:t>08.06.2026</a:t>
            </a:fld>
            <a:endParaRPr lang="pl-P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8883"/>
            <a:ext cx="6991492" cy="365125"/>
          </a:xfrm>
        </p:spPr>
        <p:txBody>
          <a:bodyPr/>
          <a:lstStyle/>
          <a:p>
            <a:endParaRPr lang="pl-P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5A505A25-1DD9-4662-A9C0-5385CECB6424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89870709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kolumn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2895600" y="761999"/>
            <a:ext cx="8610599" cy="1303867"/>
          </a:xfrm>
        </p:spPr>
        <p:txBody>
          <a:bodyPr/>
          <a:lstStyle/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685800" y="2202080"/>
            <a:ext cx="3456432" cy="617320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685799" y="2904565"/>
            <a:ext cx="3456432" cy="331413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68800" y="2201333"/>
            <a:ext cx="3456432" cy="626534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366858" y="2904067"/>
            <a:ext cx="3456432" cy="331461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8051800" y="2192866"/>
            <a:ext cx="3456432" cy="626534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8051801" y="2904565"/>
            <a:ext cx="3456432" cy="331413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00500-ABE9-4D3D-826D-1F8A5C447688}" type="datetimeFigureOut">
              <a:rPr lang="pl-PL" smtClean="0"/>
              <a:t>08.06.2026</a:t>
            </a:fld>
            <a:endParaRPr lang="pl-PL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505A25-1DD9-4662-A9C0-5385CECB6424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01469697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kolumna obraz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2895600" y="762000"/>
            <a:ext cx="8610599" cy="1295400"/>
          </a:xfrm>
        </p:spPr>
        <p:txBody>
          <a:bodyPr/>
          <a:lstStyle/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688618" y="4191000"/>
            <a:ext cx="3451582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88618" y="2362200"/>
            <a:ext cx="3451582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pl-PL"/>
              <a:t>Kliknij ikonę, aby dodać obraz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688618" y="4873764"/>
            <a:ext cx="3451582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74263" y="4191000"/>
            <a:ext cx="3448935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374263" y="2362200"/>
            <a:ext cx="3448936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pl-PL"/>
              <a:t>Kliknij ikonę, aby dodać obraz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374264" y="4873763"/>
            <a:ext cx="3448935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8049731" y="4191000"/>
            <a:ext cx="3456469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049855" y="2362200"/>
            <a:ext cx="3447878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pl-PL"/>
              <a:t>Kliknij ikonę, aby dodać obraz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8049731" y="4873761"/>
            <a:ext cx="3452445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00500-ABE9-4D3D-826D-1F8A5C447688}" type="datetimeFigureOut">
              <a:rPr lang="pl-PL" smtClean="0"/>
              <a:t>08.06.2026</a:t>
            </a:fld>
            <a:endParaRPr lang="pl-PL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505A25-1DD9-4662-A9C0-5385CECB6424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49775951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ytuł i tekst pionow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2194559"/>
            <a:ext cx="10820400" cy="4024125"/>
          </a:xfrm>
        </p:spPr>
        <p:txBody>
          <a:bodyPr vert="eaVert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00500-ABE9-4D3D-826D-1F8A5C447688}" type="datetimeFigureOut">
              <a:rPr lang="pl-PL" smtClean="0"/>
              <a:t>08.06.2026</a:t>
            </a:fld>
            <a:endParaRPr lang="pl-P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505A25-1DD9-4662-A9C0-5385CECB6424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68367429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Tytuł pionowy i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48800" y="745066"/>
            <a:ext cx="2057400" cy="3903133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24466" y="745067"/>
            <a:ext cx="8204201" cy="3903133"/>
          </a:xfrm>
        </p:spPr>
        <p:txBody>
          <a:bodyPr vert="eaVert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814452" y="379941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85100500-ABE9-4D3D-826D-1F8A5C447688}" type="datetimeFigureOut">
              <a:rPr lang="pl-PL" smtClean="0"/>
              <a:t>08.06.2026</a:t>
            </a:fld>
            <a:endParaRPr lang="pl-P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5800" y="381000"/>
            <a:ext cx="6991492" cy="365125"/>
          </a:xfrm>
        </p:spPr>
        <p:txBody>
          <a:bodyPr/>
          <a:lstStyle/>
          <a:p>
            <a:endParaRPr lang="pl-P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5A505A25-1DD9-4662-A9C0-5385CECB6424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3514756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0-HD-TOP.png"/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14414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2194560"/>
            <a:ext cx="10820400" cy="40241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595360" y="6356350"/>
            <a:ext cx="29108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5100500-ABE9-4D3D-826D-1F8A5C447688}" type="datetimeFigureOut">
              <a:rPr lang="pl-PL" smtClean="0"/>
              <a:t>08.06.2026</a:t>
            </a:fld>
            <a:endParaRPr lang="pl-P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0" y="6355845"/>
            <a:ext cx="7772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l-P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63000" y="38100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A505A25-1DD9-4662-A9C0-5385CECB6424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2429383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r" defTabSz="914400" rtl="0" eaLnBrk="1" latinLnBrk="0" hangingPunct="1">
        <a:lnSpc>
          <a:spcPct val="90000"/>
        </a:lnSpc>
        <a:spcBef>
          <a:spcPct val="0"/>
        </a:spcBef>
        <a:buNone/>
        <a:defRPr sz="40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2AFC3ABC-D0DC-F7E8-D19B-1CF74548246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pl-PL" dirty="0"/>
              <a:t>Wpływ kwantyzacji na wydajność i osiągi sieci neuronowych</a:t>
            </a:r>
          </a:p>
        </p:txBody>
      </p:sp>
      <p:sp>
        <p:nvSpPr>
          <p:cNvPr id="3" name="Podtytuł 2">
            <a:extLst>
              <a:ext uri="{FF2B5EF4-FFF2-40B4-BE49-F238E27FC236}">
                <a16:creationId xmlns:a16="http://schemas.microsoft.com/office/drawing/2014/main" id="{A89D870B-764F-489D-EC60-2847DEC936B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pl-PL" dirty="0"/>
              <a:t>Krzysztof Kowalik, Radosław Ciepał</a:t>
            </a:r>
          </a:p>
        </p:txBody>
      </p:sp>
    </p:spTree>
    <p:extLst>
      <p:ext uri="{BB962C8B-B14F-4D97-AF65-F5344CB8AC3E}">
        <p14:creationId xmlns:p14="http://schemas.microsoft.com/office/powerpoint/2010/main" val="2448030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289791B1-54E8-C762-9CCF-7A32F415A9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temat analizy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A4A639DC-6BC3-7240-6D52-1CD8A81973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/>
              <a:t>Naszym celem było porównanie osiągów sieci bez kwantyzacji oraz o różnych stopniach kwantyzacji wag dla całej sieci.</a:t>
            </a:r>
          </a:p>
        </p:txBody>
      </p:sp>
    </p:spTree>
    <p:extLst>
      <p:ext uri="{BB962C8B-B14F-4D97-AF65-F5344CB8AC3E}">
        <p14:creationId xmlns:p14="http://schemas.microsoft.com/office/powerpoint/2010/main" val="26808117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D3791F-00FB-77EF-415B-E3FA63B20F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A2F3CE7F-ECB3-8D87-9B60-7EA70460D7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temat analizy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0940ED4E-6ED2-FDA3-D4E2-CCB7FCB2DA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/>
              <a:t>Naszym celem było porównanie osiągów sieci bez kwantyzacji oraz o różnych stopniach kwantyzacji wag dla całej sieci.</a:t>
            </a:r>
          </a:p>
          <a:p>
            <a:r>
              <a:rPr lang="pl-PL" dirty="0"/>
              <a:t>Analizie poddano 3 typy sieci:</a:t>
            </a:r>
          </a:p>
          <a:p>
            <a:pPr lvl="1"/>
            <a:r>
              <a:rPr lang="pl-PL" dirty="0"/>
              <a:t>Multi-</a:t>
            </a:r>
            <a:r>
              <a:rPr lang="pl-PL" dirty="0" err="1"/>
              <a:t>Layer</a:t>
            </a:r>
            <a:r>
              <a:rPr lang="pl-PL" dirty="0"/>
              <a:t> Perceptron (w 2 wersjach – większej i mniejszej)</a:t>
            </a:r>
          </a:p>
          <a:p>
            <a:pPr lvl="1"/>
            <a:r>
              <a:rPr lang="pl-PL" dirty="0"/>
              <a:t>CNN</a:t>
            </a:r>
          </a:p>
          <a:p>
            <a:pPr lvl="1"/>
            <a:r>
              <a:rPr lang="pl-PL" dirty="0" err="1"/>
              <a:t>Triganometric</a:t>
            </a:r>
            <a:r>
              <a:rPr lang="pl-PL" dirty="0"/>
              <a:t> </a:t>
            </a:r>
            <a:r>
              <a:rPr lang="pl-PL" dirty="0" err="1"/>
              <a:t>Regressor</a:t>
            </a:r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34366030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997DC8-2714-189E-D3B6-8A3BD9FE55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683CD57F-6DAC-0E50-4B21-F659E0B798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temat analizy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F5A28C49-B2DB-AECB-5038-6CBB6264E0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/>
              <a:t>Naszym celem było porównanie osiągów sieci bez kwantyzacji oraz o różnych stopniach kwantyzacji wag dla całej sieci.</a:t>
            </a:r>
          </a:p>
          <a:p>
            <a:r>
              <a:rPr lang="pl-PL" dirty="0"/>
              <a:t>Analizie poddano 3 typy sieci:</a:t>
            </a:r>
          </a:p>
          <a:p>
            <a:pPr lvl="1"/>
            <a:r>
              <a:rPr lang="pl-PL" dirty="0"/>
              <a:t>Multi-</a:t>
            </a:r>
            <a:r>
              <a:rPr lang="pl-PL" dirty="0" err="1"/>
              <a:t>Layer</a:t>
            </a:r>
            <a:r>
              <a:rPr lang="pl-PL" dirty="0"/>
              <a:t> Perceptron (w 2 wersjach – większej i mniejszej)</a:t>
            </a:r>
          </a:p>
          <a:p>
            <a:pPr lvl="1"/>
            <a:r>
              <a:rPr lang="pl-PL" dirty="0"/>
              <a:t>CNN</a:t>
            </a:r>
          </a:p>
          <a:p>
            <a:pPr lvl="1"/>
            <a:r>
              <a:rPr lang="pl-PL" dirty="0" err="1"/>
              <a:t>Triganometric</a:t>
            </a:r>
            <a:r>
              <a:rPr lang="pl-PL" dirty="0"/>
              <a:t> </a:t>
            </a:r>
            <a:r>
              <a:rPr lang="pl-PL" dirty="0" err="1"/>
              <a:t>Regressor</a:t>
            </a:r>
            <a:endParaRPr lang="pl-PL" dirty="0"/>
          </a:p>
          <a:p>
            <a:r>
              <a:rPr lang="pl-PL" dirty="0"/>
              <a:t>Użyte typy kwantyzacji:</a:t>
            </a:r>
          </a:p>
          <a:p>
            <a:pPr lvl="1"/>
            <a:r>
              <a:rPr lang="pl-PL" dirty="0"/>
              <a:t>Bez kwantyzacji</a:t>
            </a:r>
          </a:p>
          <a:p>
            <a:pPr lvl="1"/>
            <a:r>
              <a:rPr lang="pl-PL" dirty="0"/>
              <a:t>INT8</a:t>
            </a:r>
          </a:p>
          <a:p>
            <a:pPr lvl="1"/>
            <a:r>
              <a:rPr lang="pl-PL" dirty="0"/>
              <a:t>FLOAT16</a:t>
            </a:r>
          </a:p>
          <a:p>
            <a:pPr marL="457200" lvl="1" indent="0">
              <a:buNone/>
            </a:pPr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28292749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4CF6CE-5DEC-B63E-C639-A505EA951C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02FF66BC-59D7-60DA-66E2-9C94427493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Mierzone wielkości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A9B40789-ADB4-47EB-03EA-D08D637BF9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/>
              <a:t>Zbadano efekty kwantyzacji:</a:t>
            </a:r>
          </a:p>
          <a:p>
            <a:pPr lvl="1"/>
            <a:r>
              <a:rPr lang="pl-PL" dirty="0"/>
              <a:t>Jak zmniejszył się rozmiar </a:t>
            </a:r>
            <a:r>
              <a:rPr lang="pl-PL" dirty="0" err="1"/>
              <a:t>kwantyzowanej</a:t>
            </a:r>
            <a:r>
              <a:rPr lang="pl-PL" dirty="0"/>
              <a:t> sieci? (w MB zajmowanych na dysku)</a:t>
            </a:r>
          </a:p>
        </p:txBody>
      </p:sp>
    </p:spTree>
    <p:extLst>
      <p:ext uri="{BB962C8B-B14F-4D97-AF65-F5344CB8AC3E}">
        <p14:creationId xmlns:p14="http://schemas.microsoft.com/office/powerpoint/2010/main" val="37327498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4D75F7-98E5-A5C9-A4A9-85D8C3540A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BD7821B4-8892-9A4E-8554-ED44832D8D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Mierzone wielkości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06BDFDE6-7A70-C518-3306-ED80DECBCC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/>
              <a:t>Zbadano efekty kwantyzacji:</a:t>
            </a:r>
          </a:p>
          <a:p>
            <a:pPr lvl="1"/>
            <a:r>
              <a:rPr lang="pl-PL" dirty="0"/>
              <a:t>Jak zmniejszył się rozmiar </a:t>
            </a:r>
            <a:r>
              <a:rPr lang="pl-PL" dirty="0" err="1"/>
              <a:t>kwantyzowanej</a:t>
            </a:r>
            <a:r>
              <a:rPr lang="pl-PL" dirty="0"/>
              <a:t> sieci? (w MB zajmowanych na dysku)</a:t>
            </a:r>
          </a:p>
          <a:p>
            <a:pPr lvl="1"/>
            <a:r>
              <a:rPr lang="pl-PL" dirty="0"/>
              <a:t>Jak zmieniły się metryki jakości uzyskiwanych wyników?</a:t>
            </a:r>
          </a:p>
          <a:p>
            <a:pPr lvl="2"/>
            <a:r>
              <a:rPr lang="pl-PL" dirty="0" err="1"/>
              <a:t>Accuracy</a:t>
            </a:r>
            <a:endParaRPr lang="pl-PL" dirty="0"/>
          </a:p>
          <a:p>
            <a:pPr lvl="2"/>
            <a:r>
              <a:rPr lang="pl-PL" dirty="0"/>
              <a:t>Precision</a:t>
            </a:r>
          </a:p>
          <a:p>
            <a:pPr lvl="2"/>
            <a:r>
              <a:rPr lang="pl-PL" dirty="0" err="1"/>
              <a:t>Recall</a:t>
            </a:r>
            <a:endParaRPr lang="pl-PL" dirty="0"/>
          </a:p>
          <a:p>
            <a:pPr lvl="2"/>
            <a:r>
              <a:rPr lang="pl-PL" dirty="0"/>
              <a:t>F1 </a:t>
            </a:r>
            <a:r>
              <a:rPr lang="pl-PL" dirty="0" err="1"/>
              <a:t>Score</a:t>
            </a:r>
            <a:endParaRPr lang="pl-PL" dirty="0"/>
          </a:p>
          <a:p>
            <a:pPr marL="457200" lvl="1" indent="0">
              <a:buNone/>
            </a:pPr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222148035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332AB6-C5B1-612C-F8A9-707B8E0F38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927F28BB-1647-0F2A-DA94-78BA4E465F3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pl-PL" dirty="0"/>
              <a:t>Rozmiary sieci</a:t>
            </a:r>
          </a:p>
        </p:txBody>
      </p:sp>
      <p:sp>
        <p:nvSpPr>
          <p:cNvPr id="3" name="Podtytuł 2">
            <a:extLst>
              <a:ext uri="{FF2B5EF4-FFF2-40B4-BE49-F238E27FC236}">
                <a16:creationId xmlns:a16="http://schemas.microsoft.com/office/drawing/2014/main" id="{2105CE59-F490-0FE9-DDA0-F670F32D329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14937725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D956F0-4DD1-46D6-4717-47C3E63156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7F3E20F0-E735-AA80-3788-0824FEB887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Mały MLP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E8FC2013-DAD5-6DA5-8A9A-A7330A6D08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l-PL" dirty="0"/>
          </a:p>
          <a:p>
            <a:pPr marL="457200" lvl="1" indent="0">
              <a:buNone/>
            </a:pPr>
            <a:endParaRPr lang="pl-PL" dirty="0"/>
          </a:p>
        </p:txBody>
      </p:sp>
      <p:pic>
        <p:nvPicPr>
          <p:cNvPr id="5" name="Obraz 4">
            <a:extLst>
              <a:ext uri="{FF2B5EF4-FFF2-40B4-BE49-F238E27FC236}">
                <a16:creationId xmlns:a16="http://schemas.microsoft.com/office/drawing/2014/main" id="{BD93EEBB-D87D-BD17-1CD7-2A764D7307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6668" y="2130212"/>
            <a:ext cx="8024916" cy="38438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27236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E04871-F6F2-093E-75D0-9C18B130E7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61525B9F-C6E8-65FE-9B61-02C8494315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Duży MLP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473DB5B4-ACE9-FC27-FB47-19C4726E03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l-PL" dirty="0"/>
          </a:p>
          <a:p>
            <a:pPr marL="457200" lvl="1" indent="0">
              <a:buNone/>
            </a:pPr>
            <a:endParaRPr lang="pl-PL" dirty="0"/>
          </a:p>
        </p:txBody>
      </p:sp>
      <p:pic>
        <p:nvPicPr>
          <p:cNvPr id="5" name="Obraz 4">
            <a:extLst>
              <a:ext uri="{FF2B5EF4-FFF2-40B4-BE49-F238E27FC236}">
                <a16:creationId xmlns:a16="http://schemas.microsoft.com/office/drawing/2014/main" id="{10B90977-A2CF-8B66-BA59-F05C340E8E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5350" y="2057401"/>
            <a:ext cx="7861300" cy="39192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156864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969EEE-3F38-71D4-5912-618850E5F1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CD888FD3-0BF9-65A2-69FA-0063056A69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CNN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45755B0F-D1FC-D49E-CE08-835799CF55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l-PL" dirty="0"/>
          </a:p>
          <a:p>
            <a:pPr marL="457200" lvl="1" indent="0">
              <a:buNone/>
            </a:pPr>
            <a:endParaRPr lang="pl-PL" dirty="0"/>
          </a:p>
        </p:txBody>
      </p:sp>
      <p:pic>
        <p:nvPicPr>
          <p:cNvPr id="5" name="Obraz 4">
            <a:extLst>
              <a:ext uri="{FF2B5EF4-FFF2-40B4-BE49-F238E27FC236}">
                <a16:creationId xmlns:a16="http://schemas.microsoft.com/office/drawing/2014/main" id="{BF5B1086-FE94-F9FB-D3C3-592F1D90CB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4600" y="2194560"/>
            <a:ext cx="7162800" cy="38166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016624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D3A195-169D-F5B2-21D2-4BCB0C8065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989E7D97-FD7A-5CD5-C590-1088F8E53D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 err="1"/>
              <a:t>Triganometric</a:t>
            </a:r>
            <a:r>
              <a:rPr lang="pl-PL" dirty="0"/>
              <a:t> </a:t>
            </a:r>
            <a:r>
              <a:rPr lang="pl-PL" dirty="0" err="1"/>
              <a:t>regressor</a:t>
            </a:r>
            <a:endParaRPr lang="pl-PL" dirty="0"/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65FF4DD0-2CE1-F85A-94BF-A56B4C532D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l-PL" dirty="0"/>
          </a:p>
          <a:p>
            <a:pPr marL="457200" lvl="1" indent="0">
              <a:buNone/>
            </a:pPr>
            <a:endParaRPr lang="pl-PL" dirty="0"/>
          </a:p>
        </p:txBody>
      </p:sp>
      <p:pic>
        <p:nvPicPr>
          <p:cNvPr id="5" name="Obraz 4">
            <a:extLst>
              <a:ext uri="{FF2B5EF4-FFF2-40B4-BE49-F238E27FC236}">
                <a16:creationId xmlns:a16="http://schemas.microsoft.com/office/drawing/2014/main" id="{B95E4121-1A4D-A128-B6DF-33C5D489A0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9137" y="2003411"/>
            <a:ext cx="8213725" cy="40902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705032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7ADE54-2DA3-C611-2786-E083C47DE4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D2CB958D-DEEC-A8D8-8B1A-2346881E9C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Rozmiary sieci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4C58DF56-A86F-5F9D-21A1-53A93E0C63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l-PL" dirty="0"/>
          </a:p>
          <a:p>
            <a:pPr lvl="1"/>
            <a:r>
              <a:rPr lang="pl-PL" dirty="0"/>
              <a:t>W przypadku dużych modeli (CNN, duży MLP, </a:t>
            </a:r>
            <a:r>
              <a:rPr lang="pl-PL" dirty="0" err="1"/>
              <a:t>Regressor</a:t>
            </a:r>
            <a:r>
              <a:rPr lang="pl-PL" dirty="0"/>
              <a:t>) – zachowanie jest zgodne z przewidywanym; N-krotna kompresja rozmiaru wagi daje N-krotne zmniejszenie rozmiaru zajmowanego przez model.</a:t>
            </a:r>
          </a:p>
          <a:p>
            <a:pPr lvl="1"/>
            <a:r>
              <a:rPr lang="pl-PL" dirty="0"/>
              <a:t>W ten sposób możemy uzyskać 2-krotnie lub nawet 4-krotnie mniejszy rozmiar modelu.</a:t>
            </a:r>
          </a:p>
          <a:p>
            <a:pPr lvl="1"/>
            <a:r>
              <a:rPr lang="pl-PL" dirty="0"/>
              <a:t>Dla małych modeli kwantyzacja nie daje oczekiwanych rezultatów, ze względu na:</a:t>
            </a:r>
          </a:p>
          <a:p>
            <a:pPr lvl="2"/>
            <a:r>
              <a:rPr lang="pl-PL" dirty="0"/>
              <a:t>Narzut na metadane</a:t>
            </a:r>
          </a:p>
          <a:p>
            <a:pPr lvl="2"/>
            <a:r>
              <a:rPr lang="pl-PL" dirty="0"/>
              <a:t>Narzut na dynamiczną kwantyzację</a:t>
            </a:r>
          </a:p>
          <a:p>
            <a:pPr lvl="2"/>
            <a:r>
              <a:rPr lang="pl-PL" dirty="0"/>
              <a:t>Memory </a:t>
            </a:r>
            <a:r>
              <a:rPr lang="pl-PL" dirty="0" err="1"/>
              <a:t>Alignment</a:t>
            </a:r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266330588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1FB1B2-9088-1C81-1CF6-F5DA8DC94E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547DDE7A-1F4B-39EA-A951-EBC3BCCEE56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pl-PL" dirty="0"/>
              <a:t>Jakość wyników</a:t>
            </a:r>
          </a:p>
        </p:txBody>
      </p:sp>
      <p:sp>
        <p:nvSpPr>
          <p:cNvPr id="3" name="Podtytuł 2">
            <a:extLst>
              <a:ext uri="{FF2B5EF4-FFF2-40B4-BE49-F238E27FC236}">
                <a16:creationId xmlns:a16="http://schemas.microsoft.com/office/drawing/2014/main" id="{4B8189C8-4751-51BC-4049-004F7433B76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283962924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C78811-2E6E-2AFA-91EC-C08D4AF6FF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A1C8B864-A279-67B4-9479-E787127FCA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Mały MLP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3C42BA2F-3B81-45A8-2FB8-FBEC86D204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l-PL" dirty="0"/>
          </a:p>
          <a:p>
            <a:pPr marL="457200" lvl="1" indent="0">
              <a:buNone/>
            </a:pPr>
            <a:endParaRPr lang="pl-PL" dirty="0"/>
          </a:p>
        </p:txBody>
      </p:sp>
      <p:pic>
        <p:nvPicPr>
          <p:cNvPr id="6" name="Obraz 5">
            <a:extLst>
              <a:ext uri="{FF2B5EF4-FFF2-40B4-BE49-F238E27FC236}">
                <a16:creationId xmlns:a16="http://schemas.microsoft.com/office/drawing/2014/main" id="{8A3B142A-2B80-A03F-5ADD-56908293AC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2720" y="2258267"/>
            <a:ext cx="3932135" cy="1948355"/>
          </a:xfrm>
          <a:prstGeom prst="rect">
            <a:avLst/>
          </a:prstGeom>
        </p:spPr>
      </p:pic>
      <p:pic>
        <p:nvPicPr>
          <p:cNvPr id="8" name="Obraz 7">
            <a:extLst>
              <a:ext uri="{FF2B5EF4-FFF2-40B4-BE49-F238E27FC236}">
                <a16:creationId xmlns:a16="http://schemas.microsoft.com/office/drawing/2014/main" id="{26A039FE-2811-935A-2522-C5C4EF069B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24500" y="2257973"/>
            <a:ext cx="3932136" cy="1940926"/>
          </a:xfrm>
          <a:prstGeom prst="rect">
            <a:avLst/>
          </a:prstGeom>
        </p:spPr>
      </p:pic>
      <p:pic>
        <p:nvPicPr>
          <p:cNvPr id="10" name="Obraz 9">
            <a:extLst>
              <a:ext uri="{FF2B5EF4-FFF2-40B4-BE49-F238E27FC236}">
                <a16:creationId xmlns:a16="http://schemas.microsoft.com/office/drawing/2014/main" id="{F217CE9B-F70C-B769-15D6-E646C0405F1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42719" y="4342964"/>
            <a:ext cx="3932135" cy="2005974"/>
          </a:xfrm>
          <a:prstGeom prst="rect">
            <a:avLst/>
          </a:prstGeom>
        </p:spPr>
      </p:pic>
      <p:pic>
        <p:nvPicPr>
          <p:cNvPr id="12" name="Obraz 11">
            <a:extLst>
              <a:ext uri="{FF2B5EF4-FFF2-40B4-BE49-F238E27FC236}">
                <a16:creationId xmlns:a16="http://schemas.microsoft.com/office/drawing/2014/main" id="{354E4D90-2134-FA04-0919-195DE4CBDDC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24500" y="4336058"/>
            <a:ext cx="3932135" cy="20197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91902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0F1962-5B8C-03EC-CBFC-FF31B9D66B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A108E0A8-6E12-5EE7-C957-32DE71B267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Duży MLP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17E15BA1-9DCB-D5AD-5702-A13137DDDA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l-PL" dirty="0"/>
          </a:p>
          <a:p>
            <a:pPr marL="457200" lvl="1" indent="0">
              <a:buNone/>
            </a:pPr>
            <a:endParaRPr lang="pl-PL" dirty="0"/>
          </a:p>
        </p:txBody>
      </p:sp>
      <p:pic>
        <p:nvPicPr>
          <p:cNvPr id="5" name="Obraz 4">
            <a:extLst>
              <a:ext uri="{FF2B5EF4-FFF2-40B4-BE49-F238E27FC236}">
                <a16:creationId xmlns:a16="http://schemas.microsoft.com/office/drawing/2014/main" id="{AF69DE1D-0BFA-E543-9E31-BA34264259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9500" y="1922842"/>
            <a:ext cx="4062952" cy="2199578"/>
          </a:xfrm>
          <a:prstGeom prst="rect">
            <a:avLst/>
          </a:prstGeom>
        </p:spPr>
      </p:pic>
      <p:pic>
        <p:nvPicPr>
          <p:cNvPr id="7" name="Obraz 6">
            <a:extLst>
              <a:ext uri="{FF2B5EF4-FFF2-40B4-BE49-F238E27FC236}">
                <a16:creationId xmlns:a16="http://schemas.microsoft.com/office/drawing/2014/main" id="{7C41FAAC-EA78-CDB2-27A1-EF8D72DB54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20458" y="1922841"/>
            <a:ext cx="4270113" cy="2199578"/>
          </a:xfrm>
          <a:prstGeom prst="rect">
            <a:avLst/>
          </a:prstGeom>
        </p:spPr>
      </p:pic>
      <p:pic>
        <p:nvPicPr>
          <p:cNvPr id="9" name="Obraz 8">
            <a:extLst>
              <a:ext uri="{FF2B5EF4-FFF2-40B4-BE49-F238E27FC236}">
                <a16:creationId xmlns:a16="http://schemas.microsoft.com/office/drawing/2014/main" id="{3752C40B-43AC-E0CF-E9E5-27316617F44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9500" y="4276905"/>
            <a:ext cx="4062952" cy="2107341"/>
          </a:xfrm>
          <a:prstGeom prst="rect">
            <a:avLst/>
          </a:prstGeom>
        </p:spPr>
      </p:pic>
      <p:pic>
        <p:nvPicPr>
          <p:cNvPr id="11" name="Obraz 10">
            <a:extLst>
              <a:ext uri="{FF2B5EF4-FFF2-40B4-BE49-F238E27FC236}">
                <a16:creationId xmlns:a16="http://schemas.microsoft.com/office/drawing/2014/main" id="{A58BF235-8477-8D72-D32D-8687769A3D9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20458" y="4269452"/>
            <a:ext cx="4210721" cy="21222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185641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528EA7-1CB8-84B3-417B-38079397AF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45B52441-3ECE-EBDA-F4E3-858FF32461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CNN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45058F62-01CE-AC62-144A-DAF80C28F9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l-PL" dirty="0"/>
          </a:p>
          <a:p>
            <a:pPr marL="457200" lvl="1" indent="0">
              <a:buNone/>
            </a:pPr>
            <a:endParaRPr lang="pl-PL" dirty="0"/>
          </a:p>
        </p:txBody>
      </p:sp>
      <p:pic>
        <p:nvPicPr>
          <p:cNvPr id="5" name="Obraz 4">
            <a:extLst>
              <a:ext uri="{FF2B5EF4-FFF2-40B4-BE49-F238E27FC236}">
                <a16:creationId xmlns:a16="http://schemas.microsoft.com/office/drawing/2014/main" id="{B392A039-5057-18B6-AAC7-A6C31F365D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821454"/>
            <a:ext cx="3980036" cy="2140946"/>
          </a:xfrm>
          <a:prstGeom prst="rect">
            <a:avLst/>
          </a:prstGeom>
        </p:spPr>
      </p:pic>
      <p:pic>
        <p:nvPicPr>
          <p:cNvPr id="7" name="Obraz 6">
            <a:extLst>
              <a:ext uri="{FF2B5EF4-FFF2-40B4-BE49-F238E27FC236}">
                <a16:creationId xmlns:a16="http://schemas.microsoft.com/office/drawing/2014/main" id="{660D890B-9909-1248-AE3F-6A2FC29DA1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1974" y="1821454"/>
            <a:ext cx="4185920" cy="2144708"/>
          </a:xfrm>
          <a:prstGeom prst="rect">
            <a:avLst/>
          </a:prstGeom>
        </p:spPr>
      </p:pic>
      <p:pic>
        <p:nvPicPr>
          <p:cNvPr id="9" name="Obraz 8">
            <a:extLst>
              <a:ext uri="{FF2B5EF4-FFF2-40B4-BE49-F238E27FC236}">
                <a16:creationId xmlns:a16="http://schemas.microsoft.com/office/drawing/2014/main" id="{02EE18C5-4043-1F07-E1CE-15B00939A9C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799" y="4089287"/>
            <a:ext cx="3980037" cy="2089095"/>
          </a:xfrm>
          <a:prstGeom prst="rect">
            <a:avLst/>
          </a:prstGeom>
        </p:spPr>
      </p:pic>
      <p:pic>
        <p:nvPicPr>
          <p:cNvPr id="11" name="Obraz 10">
            <a:extLst>
              <a:ext uri="{FF2B5EF4-FFF2-40B4-BE49-F238E27FC236}">
                <a16:creationId xmlns:a16="http://schemas.microsoft.com/office/drawing/2014/main" id="{D9285069-E7BA-D7EC-6E99-AEA163866DD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81974" y="4073552"/>
            <a:ext cx="4104639" cy="21179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793587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6A2AD1-E002-792F-875D-0B297F62F8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7066B733-B8AF-AB8D-4594-52D6771C75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 err="1"/>
              <a:t>Triganometric</a:t>
            </a:r>
            <a:r>
              <a:rPr lang="pl-PL" dirty="0"/>
              <a:t> </a:t>
            </a:r>
            <a:r>
              <a:rPr lang="pl-PL" dirty="0" err="1"/>
              <a:t>regressor</a:t>
            </a:r>
            <a:endParaRPr lang="pl-PL" dirty="0"/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B4F694AA-306A-177B-9C91-3D7761C7FB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l-PL" dirty="0"/>
          </a:p>
          <a:p>
            <a:pPr marL="457200" lvl="1" indent="0">
              <a:buNone/>
            </a:pPr>
            <a:endParaRPr lang="pl-PL" dirty="0"/>
          </a:p>
        </p:txBody>
      </p:sp>
      <p:pic>
        <p:nvPicPr>
          <p:cNvPr id="5" name="Obraz 4">
            <a:extLst>
              <a:ext uri="{FF2B5EF4-FFF2-40B4-BE49-F238E27FC236}">
                <a16:creationId xmlns:a16="http://schemas.microsoft.com/office/drawing/2014/main" id="{D8B7326E-799F-E9E6-E7F7-E394A3B624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8389" y="2057401"/>
            <a:ext cx="7135221" cy="36009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43334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FEE455-BF7E-DE73-7410-979E963A2D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7A7B79D8-19DB-BB25-BC37-3D57061886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Jakość wyników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B8C00367-8CEB-FD22-61C1-81E4BFE91F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l-PL" dirty="0"/>
          </a:p>
          <a:p>
            <a:pPr lvl="1"/>
            <a:r>
              <a:rPr lang="pl-PL" dirty="0"/>
              <a:t>Wszystkie miary jakości uzyskanych wyników (dokładność, </a:t>
            </a:r>
            <a:r>
              <a:rPr lang="pl-PL" dirty="0" err="1"/>
              <a:t>prezycja</a:t>
            </a:r>
            <a:r>
              <a:rPr lang="pl-PL" dirty="0"/>
              <a:t>, czułość) w przypadku dużych modeli klasyfikujących (MLP, CNN) nie wykazują żadnego znaczącego spadku.</a:t>
            </a:r>
          </a:p>
          <a:p>
            <a:pPr lvl="1"/>
            <a:r>
              <a:rPr lang="pl-PL" dirty="0"/>
              <a:t>Co ciekawe, w wielu przypadkach kwantyzacja do INT8 zapewnia lepsze wyniki niż do FLOAT16.</a:t>
            </a:r>
          </a:p>
          <a:p>
            <a:pPr lvl="2"/>
            <a:r>
              <a:rPr lang="pl-PL" dirty="0"/>
              <a:t>Może być to związane z działaniem kwantyzacji jak </a:t>
            </a:r>
            <a:r>
              <a:rPr lang="pl-PL" dirty="0" err="1"/>
              <a:t>regularyzacji</a:t>
            </a:r>
            <a:r>
              <a:rPr lang="pl-PL" dirty="0"/>
              <a:t> dodającej pożądany szum</a:t>
            </a:r>
          </a:p>
        </p:txBody>
      </p:sp>
    </p:spTree>
    <p:extLst>
      <p:ext uri="{BB962C8B-B14F-4D97-AF65-F5344CB8AC3E}">
        <p14:creationId xmlns:p14="http://schemas.microsoft.com/office/powerpoint/2010/main" val="147861789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6E1FF1-69A9-AF04-381A-FDA5E58CF1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5D4A1DF3-9F20-DA2E-76C2-2A4D25333F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Jakość wyników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FE568A1C-164A-235A-BEEE-AB0174EB24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l-PL" dirty="0"/>
          </a:p>
          <a:p>
            <a:pPr lvl="1"/>
            <a:r>
              <a:rPr lang="pl-PL" dirty="0"/>
              <a:t>Dla małego modelu (MLP) spadek metryk jest bardziej widoczny – kwantyzacja przynosi gorsze efekty. Widać to głównie w najbardziej miarodajnej metryce F1.</a:t>
            </a:r>
          </a:p>
          <a:p>
            <a:pPr lvl="1"/>
            <a:r>
              <a:rPr lang="pl-PL" dirty="0" err="1"/>
              <a:t>Regressor</a:t>
            </a:r>
            <a:r>
              <a:rPr lang="pl-PL" dirty="0"/>
              <a:t> również ma o wiele wyższą funkcję straty po skwantowaniu modelu – nawet ok. 2-krotnie.</a:t>
            </a:r>
          </a:p>
          <a:p>
            <a:pPr lvl="2"/>
            <a:r>
              <a:rPr lang="pl-PL" dirty="0"/>
              <a:t>Tutaj również występuje efekt </a:t>
            </a:r>
            <a:r>
              <a:rPr lang="pl-PL" dirty="0" err="1"/>
              <a:t>regularyzacji</a:t>
            </a:r>
            <a:r>
              <a:rPr lang="pl-PL" dirty="0"/>
              <a:t> przez kwantyzację – INT8 daje nieco lepszy wynik niż FLOAT16.</a:t>
            </a:r>
          </a:p>
          <a:p>
            <a:pPr lvl="1"/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131523020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56CB2A-4267-C224-E375-931CDCD967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C770498A-68E2-676C-2472-FD978B6B72B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pl-PL" dirty="0"/>
              <a:t>podsumowanie</a:t>
            </a:r>
          </a:p>
        </p:txBody>
      </p:sp>
      <p:sp>
        <p:nvSpPr>
          <p:cNvPr id="3" name="Podtytuł 2">
            <a:extLst>
              <a:ext uri="{FF2B5EF4-FFF2-40B4-BE49-F238E27FC236}">
                <a16:creationId xmlns:a16="http://schemas.microsoft.com/office/drawing/2014/main" id="{316E2806-0E20-6EE4-EA56-1B986D162A6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17048117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4C2C64-0610-705D-4B33-C175F591F5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39614B22-EF1F-84F6-B3AC-DF1BA0E61F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podsumowanie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58CDCCF8-17BC-EEAC-ACF0-DC61630F54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l-PL" dirty="0"/>
          </a:p>
          <a:p>
            <a:pPr lvl="1"/>
            <a:r>
              <a:rPr lang="pl-PL" dirty="0"/>
              <a:t>Kwantyzacja modeli sieci neuronowych okazała się być bardzo pomocnym narzędziem do redukcji rozmiaru modelu, gdy:</a:t>
            </a:r>
          </a:p>
          <a:p>
            <a:pPr lvl="2"/>
            <a:r>
              <a:rPr lang="pl-PL" dirty="0"/>
              <a:t>Ma on początkowo znaczną ilość parametrów</a:t>
            </a:r>
          </a:p>
          <a:p>
            <a:pPr lvl="2"/>
            <a:r>
              <a:rPr lang="pl-PL" dirty="0"/>
              <a:t>Nie jest modelem regresyjnym, a klasyfikatorem</a:t>
            </a:r>
          </a:p>
          <a:p>
            <a:pPr lvl="1"/>
            <a:r>
              <a:rPr lang="pl-PL" dirty="0"/>
              <a:t>W takich wypadkach kwantyzacja może powodować nawet 4-krotne zmniejszenie rozmiarów modelu bez wyraźnego spadku jakości uzyskiwanych wyników.</a:t>
            </a:r>
          </a:p>
          <a:p>
            <a:pPr lvl="1"/>
            <a:r>
              <a:rPr lang="pl-PL" dirty="0"/>
              <a:t>Warto zauważyć, że ze względu na efekty </a:t>
            </a:r>
            <a:r>
              <a:rPr lang="pl-PL" dirty="0" err="1"/>
              <a:t>regularyzacji</a:t>
            </a:r>
            <a:r>
              <a:rPr lang="pl-PL" dirty="0"/>
              <a:t>, kwantyzacja do mniejszej ilości bitów może dawać lepsze wyniki.</a:t>
            </a:r>
          </a:p>
        </p:txBody>
      </p:sp>
    </p:spTree>
    <p:extLst>
      <p:ext uri="{BB962C8B-B14F-4D97-AF65-F5344CB8AC3E}">
        <p14:creationId xmlns:p14="http://schemas.microsoft.com/office/powerpoint/2010/main" val="89583123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436A8D-607F-4D3F-14E7-92624325C7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FC55E157-F339-8910-AF65-5BC29EE374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podsumowanie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9534AE03-F18D-DF9D-2A69-B74E348CF8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l-PL" dirty="0"/>
          </a:p>
          <a:p>
            <a:pPr lvl="1"/>
            <a:r>
              <a:rPr lang="pl-PL" dirty="0"/>
              <a:t>Małe modele generalnie źle znoszą kwantyzację – jakość uzyskiwanych wyników znacznie spada, a oszczędzony rozmiar nie jest duży lub model wręcz zwiększa swój rozmiar.</a:t>
            </a:r>
          </a:p>
          <a:p>
            <a:pPr lvl="1"/>
            <a:r>
              <a:rPr lang="pl-PL" dirty="0"/>
              <a:t>Również modele regresyjne uzyskują gorszą precyzję wyników.</a:t>
            </a:r>
          </a:p>
        </p:txBody>
      </p:sp>
    </p:spTree>
    <p:extLst>
      <p:ext uri="{BB962C8B-B14F-4D97-AF65-F5344CB8AC3E}">
        <p14:creationId xmlns:p14="http://schemas.microsoft.com/office/powerpoint/2010/main" val="308373943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A3ABC8-DE10-5368-734F-78953A32E5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292D47EE-D0F5-A2F1-9F45-7BB90AF5597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pl-PL" dirty="0"/>
              <a:t>Dziękujemy za uwagę</a:t>
            </a:r>
          </a:p>
        </p:txBody>
      </p:sp>
      <p:sp>
        <p:nvSpPr>
          <p:cNvPr id="3" name="Podtytuł 2">
            <a:extLst>
              <a:ext uri="{FF2B5EF4-FFF2-40B4-BE49-F238E27FC236}">
                <a16:creationId xmlns:a16="http://schemas.microsoft.com/office/drawing/2014/main" id="{BD4EFA8A-629E-E268-7A3F-BC7CCE89455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2422881592"/>
      </p:ext>
    </p:extLst>
  </p:cSld>
  <p:clrMapOvr>
    <a:masterClrMapping/>
  </p:clrMapOvr>
</p:sld>
</file>

<file path=ppt/theme/theme1.xml><?xml version="1.0" encoding="utf-8"?>
<a:theme xmlns:a="http://schemas.openxmlformats.org/drawingml/2006/main" name="Para">
  <a:themeElements>
    <a:clrScheme name="Para">
      <a:dk1>
        <a:sysClr val="windowText" lastClr="000000"/>
      </a:dk1>
      <a:lt1>
        <a:sysClr val="window" lastClr="FFFFFF"/>
      </a:lt1>
      <a:dk2>
        <a:srgbClr val="454545"/>
      </a:dk2>
      <a:lt2>
        <a:srgbClr val="DADADA"/>
      </a:lt2>
      <a:accent1>
        <a:srgbClr val="DF2E28"/>
      </a:accent1>
      <a:accent2>
        <a:srgbClr val="FE801A"/>
      </a:accent2>
      <a:accent3>
        <a:srgbClr val="E9BF35"/>
      </a:accent3>
      <a:accent4>
        <a:srgbClr val="81BB42"/>
      </a:accent4>
      <a:accent5>
        <a:srgbClr val="32C7A9"/>
      </a:accent5>
      <a:accent6>
        <a:srgbClr val="4A9BDC"/>
      </a:accent6>
      <a:hlink>
        <a:srgbClr val="F0532B"/>
      </a:hlink>
      <a:folHlink>
        <a:srgbClr val="F38B53"/>
      </a:folHlink>
    </a:clrScheme>
    <a:fontScheme name="Para">
      <a:majorFont>
        <a:latin typeface="Century Gothic" panose="020B0502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Para">
      <a:fillStyleLst>
        <a:solidFill>
          <a:schemeClr val="phClr"/>
        </a:solidFill>
        <a:gradFill rotWithShape="1">
          <a:gsLst>
            <a:gs pos="0">
              <a:schemeClr val="phClr">
                <a:tint val="69000"/>
                <a:alpha val="100000"/>
                <a:satMod val="109000"/>
                <a:lumMod val="110000"/>
              </a:schemeClr>
            </a:gs>
            <a:gs pos="52000">
              <a:schemeClr val="phClr">
                <a:tint val="74000"/>
                <a:satMod val="100000"/>
                <a:lumMod val="104000"/>
              </a:schemeClr>
            </a:gs>
            <a:gs pos="100000">
              <a:schemeClr val="phClr">
                <a:tint val="78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satMod val="100000"/>
                <a:lumMod val="104000"/>
              </a:schemeClr>
            </a:gs>
            <a:gs pos="78000">
              <a:schemeClr val="phClr">
                <a:shade val="100000"/>
                <a:satMod val="11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  <a:scene3d>
            <a:camera prst="orthographicFront">
              <a:rot lat="0" lon="0" rev="0"/>
            </a:camera>
            <a:lightRig rig="threePt" dir="t"/>
          </a:scene3d>
          <a:sp3d>
            <a:bevelT w="25400" h="12700"/>
          </a:sp3d>
        </a:effectStyle>
        <a:effectStyle>
          <a:effectLst>
            <a:outerShdw blurRad="57150" dist="19050" dir="5400000" algn="ctr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threePt" dir="t"/>
          </a:scene3d>
          <a:sp3d>
            <a:bevelT w="50800" h="2540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apor Trail" id="{4FDF2955-7D9C-493C-B9F9-C205151B46CD}" vid="{8F31A783-2159-4870-BC29-2BA7D038EA4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TM04033937[[fn=Para]]</Template>
  <TotalTime>367</TotalTime>
  <Words>487</Words>
  <Application>Microsoft Office PowerPoint</Application>
  <PresentationFormat>Panoramiczny</PresentationFormat>
  <Paragraphs>72</Paragraphs>
  <Slides>23</Slides>
  <Notes>0</Notes>
  <HiddenSlides>0</HiddenSlides>
  <MMClips>0</MMClips>
  <ScaleCrop>false</ScaleCrop>
  <HeadingPairs>
    <vt:vector size="6" baseType="variant">
      <vt:variant>
        <vt:lpstr>Używane czcionki</vt:lpstr>
      </vt:variant>
      <vt:variant>
        <vt:i4>2</vt:i4>
      </vt:variant>
      <vt:variant>
        <vt:lpstr>Motyw</vt:lpstr>
      </vt:variant>
      <vt:variant>
        <vt:i4>1</vt:i4>
      </vt:variant>
      <vt:variant>
        <vt:lpstr>Tytuły slajdów</vt:lpstr>
      </vt:variant>
      <vt:variant>
        <vt:i4>23</vt:i4>
      </vt:variant>
    </vt:vector>
  </HeadingPairs>
  <TitlesOfParts>
    <vt:vector size="26" baseType="lpstr">
      <vt:lpstr>Arial</vt:lpstr>
      <vt:lpstr>Century Gothic</vt:lpstr>
      <vt:lpstr>Para</vt:lpstr>
      <vt:lpstr>Wpływ kwantyzacji na wydajność i osiągi sieci neuronowych</vt:lpstr>
      <vt:lpstr>temat analizy</vt:lpstr>
      <vt:lpstr>temat analizy</vt:lpstr>
      <vt:lpstr>temat analizy</vt:lpstr>
      <vt:lpstr>Mierzone wielkości</vt:lpstr>
      <vt:lpstr>Mierzone wielkości</vt:lpstr>
      <vt:lpstr>Rozmiary sieci</vt:lpstr>
      <vt:lpstr>Mały MLP</vt:lpstr>
      <vt:lpstr>Duży MLP</vt:lpstr>
      <vt:lpstr>CNN</vt:lpstr>
      <vt:lpstr>Triganometric regressor</vt:lpstr>
      <vt:lpstr>Rozmiary sieci</vt:lpstr>
      <vt:lpstr>Jakość wyników</vt:lpstr>
      <vt:lpstr>Mały MLP</vt:lpstr>
      <vt:lpstr>Duży MLP</vt:lpstr>
      <vt:lpstr>CNN</vt:lpstr>
      <vt:lpstr>Triganometric regressor</vt:lpstr>
      <vt:lpstr>Jakość wyników</vt:lpstr>
      <vt:lpstr>Jakość wyników</vt:lpstr>
      <vt:lpstr>podsumowanie</vt:lpstr>
      <vt:lpstr>podsumowanie</vt:lpstr>
      <vt:lpstr>podsumowanie</vt:lpstr>
      <vt:lpstr>Dziękujemy za uwagę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Radosław Ciepał</dc:creator>
  <cp:lastModifiedBy>Radosław Ciepał</cp:lastModifiedBy>
  <cp:revision>31</cp:revision>
  <dcterms:created xsi:type="dcterms:W3CDTF">2026-06-05T15:22:22Z</dcterms:created>
  <dcterms:modified xsi:type="dcterms:W3CDTF">2026-06-08T19:40:24Z</dcterms:modified>
</cp:coreProperties>
</file>